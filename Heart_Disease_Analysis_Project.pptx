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dPt>
            <c:idx val="0"/>
            <c:spPr>
              <a:solidFill>
                <a:srgbClr val="E14148"/>
              </a:solidFill>
            </c:spPr>
          </c:dPt>
          <c:dPt>
            <c:idx val="1"/>
            <c:spPr>
              <a:solidFill>
                <a:srgbClr val="29B7AB"/>
              </a:solidFill>
            </c:spPr>
          </c:dPt>
          <c:cat>
            <c:strRef>
              <c:f>Sheet1!$A$2:$A$3</c:f>
              <c:strCache>
                <c:ptCount val="2"/>
                <c:pt idx="0">
                  <c:v>Heart disease</c:v>
                </c:pt>
                <c:pt idx="1">
                  <c:v>No heart disease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51.3</c:v>
                </c:pt>
                <c:pt idx="1">
                  <c:v>48.7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nkedin.com/in/doaa-mostafa-5426a9349" TargetMode="External"/><Relationship Id="rId3" Type="http://schemas.openxmlformats.org/officeDocument/2006/relationships/hyperlink" Target="https://www.linkedin.com/in/ibrahim-elsawah-139127311" TargetMode="External"/><Relationship Id="rId4" Type="http://schemas.openxmlformats.org/officeDocument/2006/relationships/hyperlink" Target="https://www.linkedin.com/in/laila-hamed-a64836383" TargetMode="External"/><Relationship Id="rId5" Type="http://schemas.openxmlformats.org/officeDocument/2006/relationships/hyperlink" Target="https://www.linkedin.com/in/abdelrahman-ahmed-870134379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05840"/>
            <a:ext cx="3383280" cy="3383280"/>
          </a:xfrm>
          <a:prstGeom prst="ellipse">
            <a:avLst/>
          </a:prstGeom>
          <a:solidFill>
            <a:srgbClr val="22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4709160"/>
            <a:ext cx="2377440" cy="2377440"/>
          </a:xfrm>
          <a:prstGeom prst="ellipse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5074920"/>
            <a:ext cx="1371600" cy="1371600"/>
          </a:xfrm>
          <a:prstGeom prst="ellipse">
            <a:avLst/>
          </a:prstGeom>
          <a:solidFill>
            <a:srgbClr val="244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3840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DATA ANALYTICS  /  GROUP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6400800" cy="1371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Heart Disease
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621792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A4B2C6"/>
                </a:solidFill>
                <a:latin typeface="Aptos"/>
              </a:rPr>
              <a:t>Exploring risk factors, medical patterns
&amp; data-driven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417320"/>
            <a:ext cx="1828800" cy="1554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8600" b="1">
                <a:solidFill>
                  <a:srgbClr val="E14148"/>
                </a:solidFill>
                <a:latin typeface="Aptos"/>
              </a:rPr>
              <a:t>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063240"/>
            <a:ext cx="2560320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8FAFC"/>
                </a:solidFill>
                <a:latin typeface="Aptos"/>
              </a:rPr>
              <a:t>1,025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584448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A4B2C6"/>
                </a:solidFill>
                <a:latin typeface="Aptos"/>
              </a:rPr>
              <a:t>PATIENT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17720"/>
            <a:ext cx="6675120" cy="141732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28032"/>
            <a:ext cx="1463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9B7AB"/>
                </a:solidFill>
                <a:latin typeface="Aptos"/>
              </a:rP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66360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Doaa Mostafa Ahmed Mahmoud Bayoumi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166360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Abdelrahman Ahmed Zaki 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05272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Ibrahim Hossam El-Din Ibrahim Ibrahim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605272"/>
            <a:ext cx="2880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Laila Hamed Hamed Mesaad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9834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9B7AB"/>
                </a:solidFill>
                <a:latin typeface="Aptos"/>
                <a:hlinkClick r:id="rId2"/>
              </a:rPr>
              <a:t>Doaa 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9834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9B7AB"/>
                </a:solidFill>
                <a:latin typeface="Aptos"/>
                <a:hlinkClick r:id="rId3"/>
              </a:rPr>
              <a:t>Ibrahim 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550408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9B7AB"/>
                </a:solidFill>
                <a:latin typeface="Aptos"/>
                <a:hlinkClick r:id="rId4"/>
              </a:rPr>
              <a:t>Laila 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5550408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9B7AB"/>
                </a:solidFill>
                <a:latin typeface="Aptos"/>
                <a:hlinkClick r:id="rId5"/>
              </a:rPr>
              <a:t>Abdelrahman LinkedIn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01 •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Turning patient-level medical data into clear, understandable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3520440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64008" cy="150876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75688"/>
            <a:ext cx="310896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01  Analyze the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4"/>
            <a:ext cx="3108960" cy="74066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Study medical records for 1,025 patients and identify meaningful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520440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74519"/>
            <a:ext cx="64008" cy="1508760"/>
          </a:xfrm>
          <a:prstGeom prst="rect">
            <a:avLst/>
          </a:prstGeom>
          <a:solidFill>
            <a:srgbClr val="29B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75688"/>
            <a:ext cx="310896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02  Explore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78024"/>
            <a:ext cx="3108960" cy="74066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Compare demographic, clinical and test-related variables.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520440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74519"/>
            <a:ext cx="64008" cy="1508760"/>
          </a:xfrm>
          <a:prstGeom prst="rect">
            <a:avLst/>
          </a:prstGeom>
          <a:solidFill>
            <a:srgbClr val="EF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75688"/>
            <a:ext cx="310896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03  Identify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78024"/>
            <a:ext cx="3108960" cy="74066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Find features associated with the heart-disease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794760"/>
            <a:ext cx="3520440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3794760"/>
            <a:ext cx="64008" cy="1508760"/>
          </a:xfrm>
          <a:prstGeom prst="rect">
            <a:avLst/>
          </a:prstGeom>
          <a:solidFill>
            <a:srgbClr val="29B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3995928"/>
            <a:ext cx="310896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04  Communicate visually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398264"/>
            <a:ext cx="3108960" cy="74066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Use charts, comparisons and a dashboard to make patterns easier to understand.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94760"/>
            <a:ext cx="3520440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64008" cy="150876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95928"/>
            <a:ext cx="310896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05  Translate data to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98264"/>
            <a:ext cx="3108960" cy="74066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Move from raw rows → analysis → visual evidence → conclusions.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02 •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Key Project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The analysis was organized around five practical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10835640" cy="621792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38528"/>
            <a:ext cx="4114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1414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83664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Higher-risk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83664"/>
            <a:ext cx="7132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Which features are associated with a higher heart-disease rate?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24328"/>
            <a:ext cx="10835640" cy="621792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779776"/>
            <a:ext cx="4114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1414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24912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Strongest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724912"/>
            <a:ext cx="7132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Which features show the strongest relationship with heart disease?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65576"/>
            <a:ext cx="10835640" cy="621792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21024"/>
            <a:ext cx="4114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1414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66160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Feature correlation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66160"/>
            <a:ext cx="7132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What is the correlation between the medical features?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06824"/>
            <a:ext cx="10835640" cy="621792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462272"/>
            <a:ext cx="4114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1414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40740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Age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07408"/>
            <a:ext cx="7132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How is heart disease distributed across different age groups?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48072"/>
            <a:ext cx="10835640" cy="621792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03520"/>
            <a:ext cx="4114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1414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248656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Main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248656"/>
            <a:ext cx="7132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What key insights can be obtained from the dataset?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03 •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A clean, balanced dataset with demographic and clinical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487168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39112"/>
            <a:ext cx="21031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E14148"/>
                </a:solidFill>
                <a:latin typeface="Aptos"/>
              </a:rPr>
              <a:t>1,025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42032"/>
            <a:ext cx="2103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4B2C6"/>
                </a:solidFill>
                <a:latin typeface="Aptos"/>
              </a:rPr>
              <a:t>Patients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28800"/>
            <a:ext cx="2487168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039112"/>
            <a:ext cx="21031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9B7AB"/>
                </a:solidFill>
                <a:latin typeface="Aptos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42032"/>
            <a:ext cx="2103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4B2C6"/>
                </a:solidFill>
                <a:latin typeface="Aptos"/>
              </a:rPr>
              <a:t>Columns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828800"/>
            <a:ext cx="2487168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039112"/>
            <a:ext cx="21031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EFB848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542032"/>
            <a:ext cx="2103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4B2C6"/>
                </a:solidFill>
                <a:latin typeface="Aptos"/>
              </a:rPr>
              <a:t>Missing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828800"/>
            <a:ext cx="2487168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5" y="2039112"/>
            <a:ext cx="21031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FF676E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5" y="2542032"/>
            <a:ext cx="21031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4B2C6"/>
                </a:solidFill>
                <a:latin typeface="Aptos"/>
              </a:rPr>
              <a:t>Duplicate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Main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13632"/>
            <a:ext cx="10744200" cy="10058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51376"/>
            <a:ext cx="10241280" cy="56692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A4B2C6"/>
                </a:solidFill>
                <a:latin typeface="Aptos"/>
              </a:rPr>
              <a:t>Age  •  Sex  •  Chest-pain type  •  Blood pressure  •  Cholesterol
Maximum heart rate  •  Exercise-induced angina  •  Oldpeak  •  ECG  •  Vessels  •  Thalassemia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21808"/>
            <a:ext cx="1069848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9B7AB"/>
                </a:solidFill>
                <a:latin typeface="Aptos"/>
              </a:rPr>
              <a:t>Target variable: whether heart disease is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04 •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Data Preparation &amp; Analysis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From raw records to structured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993392" cy="19659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457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06040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1600200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Review missing values and duplicates.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1920240"/>
            <a:ext cx="1993392" cy="19659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6664" y="2130552"/>
            <a:ext cx="457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9B7A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606040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017520"/>
            <a:ext cx="1600200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Structure categorical and grouped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1920240"/>
            <a:ext cx="1993392" cy="19659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6" y="2130552"/>
            <a:ext cx="457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FB84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606040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3017520"/>
            <a:ext cx="1600200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Use Pivot Tables and summary calculations.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920240"/>
            <a:ext cx="1993392" cy="19659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130552"/>
            <a:ext cx="457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76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3017520"/>
            <a:ext cx="1600200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Build charts and dashboard 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65208" y="1920240"/>
            <a:ext cx="1993392" cy="19659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130552"/>
            <a:ext cx="457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9B7AB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Interpret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017520"/>
            <a:ext cx="1600200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Compare outcomes and extract insights.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343400"/>
            <a:ext cx="10058400" cy="54864"/>
          </a:xfrm>
          <a:prstGeom prst="rect">
            <a:avLst/>
          </a:prstGeom>
          <a:solidFill>
            <a:srgbClr val="3C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4206240"/>
            <a:ext cx="320040" cy="320040"/>
          </a:xfrm>
          <a:prstGeom prst="ellipse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82112" y="4206240"/>
            <a:ext cx="320040" cy="320040"/>
          </a:xfrm>
          <a:prstGeom prst="ellipse">
            <a:avLst/>
          </a:prstGeom>
          <a:solidFill>
            <a:srgbClr val="29B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9824" y="4206240"/>
            <a:ext cx="320040" cy="320040"/>
          </a:xfrm>
          <a:prstGeom prst="ellipse">
            <a:avLst/>
          </a:prstGeom>
          <a:solidFill>
            <a:srgbClr val="EF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17536" y="4206240"/>
            <a:ext cx="320040" cy="320040"/>
          </a:xfrm>
          <a:prstGeom prst="ellipse">
            <a:avLst/>
          </a:prstGeom>
          <a:solidFill>
            <a:srgbClr val="FF6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85248" y="4206240"/>
            <a:ext cx="320040" cy="320040"/>
          </a:xfrm>
          <a:prstGeom prst="ellipse">
            <a:avLst/>
          </a:prstGeom>
          <a:solidFill>
            <a:srgbClr val="29B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892040"/>
            <a:ext cx="10058400" cy="3657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cleaned dataset  →  analysis  →  Pivot Tables  →  dashboard  → 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05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How Common Is Heart Disease?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The outcome classes are almost evenly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737360"/>
          <a:ext cx="45720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806440" y="1828800"/>
            <a:ext cx="5394960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057400"/>
            <a:ext cx="14173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14148"/>
                </a:solidFill>
                <a:latin typeface="Aptos"/>
              </a:rPr>
              <a:t>51.3%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39696"/>
            <a:ext cx="32918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classified with heart disease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310128"/>
            <a:ext cx="5394960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538728"/>
            <a:ext cx="14173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9B7AB"/>
                </a:solidFill>
                <a:latin typeface="Aptos"/>
              </a:rPr>
              <a:t>48.7%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621024"/>
            <a:ext cx="32918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classified without heart disease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892040"/>
            <a:ext cx="13716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B848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230368"/>
            <a:ext cx="5212080" cy="5943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4B2C6"/>
                </a:solidFill>
                <a:latin typeface="Aptos"/>
              </a:rPr>
              <a:t>The two groups are relatively balanced, supporting direct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06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Chest Pain Type &amp; Heart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Clear differences appear across chest-pain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pic>
        <p:nvPicPr>
          <p:cNvPr id="10" name="Picture 9" descr="slide6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6492240" cy="463731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0" y="1828800"/>
            <a:ext cx="4023360" cy="786384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965960"/>
            <a:ext cx="114300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14148"/>
                </a:solidFill>
                <a:latin typeface="Aptos"/>
              </a:rPr>
              <a:t>80.2%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993392"/>
            <a:ext cx="21488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Atypical Angina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852928"/>
            <a:ext cx="4023360" cy="786384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990088"/>
            <a:ext cx="114300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F676E"/>
                </a:solidFill>
                <a:latin typeface="Aptos"/>
              </a:rPr>
              <a:t>77.1%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017520"/>
            <a:ext cx="21488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Non-Anginal Pain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877056"/>
            <a:ext cx="4023360" cy="786384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8" y="4014216"/>
            <a:ext cx="114300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FB848"/>
                </a:solidFill>
                <a:latin typeface="Aptos"/>
              </a:rPr>
              <a:t>66.2%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041648"/>
            <a:ext cx="21488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Asymptomatic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4901184"/>
            <a:ext cx="4023360" cy="786384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5038344"/>
            <a:ext cx="114300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9B7AB"/>
                </a:solidFill>
                <a:latin typeface="Aptos"/>
              </a:rPr>
              <a:t>24.5%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5065776"/>
            <a:ext cx="21488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Typical Angina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897880"/>
            <a:ext cx="3977639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A4B2C6"/>
                </a:solidFill>
                <a:latin typeface="Aptos"/>
              </a:rPr>
              <a:t>Share of patients in each category classified with heart disease.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07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Heart Disease Across Age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Age patterns are not a simple straight-line increase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pic>
        <p:nvPicPr>
          <p:cNvPr id="10" name="Picture 9" descr="slide7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6766560" cy="42291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28800"/>
            <a:ext cx="3703320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057400"/>
            <a:ext cx="3108960" cy="3474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FB848"/>
                </a:solidFill>
                <a:latin typeface="Aptos"/>
              </a:rPr>
              <a:t>Not 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487168"/>
            <a:ext cx="30632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Some age groups show noticeably different 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310128"/>
            <a:ext cx="3703320" cy="141732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547872"/>
            <a:ext cx="310896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9B7AB"/>
                </a:solidFill>
                <a:latin typeface="Aptos"/>
              </a:rPr>
              <a:t>Best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950208"/>
            <a:ext cx="3063240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Age should be interpreted together with other medical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138928"/>
            <a:ext cx="34747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A4B2C6"/>
                </a:solidFill>
                <a:latin typeface="Aptos"/>
              </a:rPr>
              <a:t>Source: project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08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Medical Feature Distributions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Distribution plots reveal spread, overlap and outliers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pic>
        <p:nvPicPr>
          <p:cNvPr id="10" name="Picture 9" descr="slide8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6720840" cy="42005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3657600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121408"/>
            <a:ext cx="30175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Box 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523744"/>
            <a:ext cx="297180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Highlight differences in distribution and spread.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337560"/>
            <a:ext cx="3657600" cy="123444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584448"/>
            <a:ext cx="30175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Violin plot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986784"/>
            <a:ext cx="2971800" cy="47548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Shows how maximum heart rate is distributed by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074920"/>
            <a:ext cx="365760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9B7AB"/>
                </a:solidFill>
                <a:latin typeface="Aptos"/>
              </a:rPr>
              <a:t>Together, the visuals show more than a single average.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09 •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Correlation Between Medical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Numeric relationships provide a compact view of association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pic>
        <p:nvPicPr>
          <p:cNvPr id="10" name="Picture 9" descr="slide9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577840" cy="3984171"/>
          </a:xfrm>
          <a:prstGeom prst="rect">
            <a:avLst/>
          </a:prstGeom>
        </p:spPr>
      </p:pic>
      <p:pic>
        <p:nvPicPr>
          <p:cNvPr id="11" name="Picture 10" descr="slide9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45920"/>
            <a:ext cx="5303520" cy="37882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440680"/>
            <a:ext cx="1600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A4B2C6"/>
                </a:solidFill>
                <a:latin typeface="Aptos"/>
              </a:rPr>
              <a:t>oldpeak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440680"/>
            <a:ext cx="594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14148"/>
                </a:solidFill>
                <a:latin typeface="Aptos"/>
              </a:rPr>
              <a:t>−0.44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440680"/>
            <a:ext cx="1600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A4B2C6"/>
                </a:solidFill>
                <a:latin typeface="Aptos"/>
              </a:rPr>
              <a:t>Max_heart_rate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440680"/>
            <a:ext cx="594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9B7AB"/>
                </a:solidFill>
                <a:latin typeface="Aptos"/>
              </a:rPr>
              <a:t>+0.42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440680"/>
            <a:ext cx="1600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A4B2C6"/>
                </a:solidFill>
                <a:latin typeface="Aptos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440680"/>
            <a:ext cx="594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FB848"/>
                </a:solidFill>
                <a:latin typeface="Aptos"/>
              </a:rPr>
              <a:t>−0.23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71032"/>
            <a:ext cx="1600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A4B2C6"/>
                </a:solidFill>
                <a:latin typeface="Aptos"/>
              </a:rPr>
              <a:t>resting_blood_pressure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971032"/>
            <a:ext cx="594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100" b="1">
                <a:solidFill>
                  <a:srgbClr val="A4B2C6"/>
                </a:solidFill>
                <a:latin typeface="Aptos"/>
              </a:rPr>
              <a:t>−0.14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5971032"/>
            <a:ext cx="1600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A4B2C6"/>
                </a:solidFill>
                <a:latin typeface="Aptos"/>
              </a:rPr>
              <a:t>cholestrol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971032"/>
            <a:ext cx="5943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100" b="1">
                <a:solidFill>
                  <a:srgbClr val="A4B2C6"/>
                </a:solidFill>
                <a:latin typeface="Aptos"/>
              </a:rPr>
              <a:t>−0.10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4754880" cy="3657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50" b="0">
                <a:solidFill>
                  <a:srgbClr val="A4B2C6"/>
                </a:solidFill>
                <a:latin typeface="Aptos"/>
              </a:rPr>
              <a:t>Correlation indicates association; it does not prove causation.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10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Cholesterol &amp; Heart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Compare distributions between the two outcome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pic>
        <p:nvPicPr>
          <p:cNvPr id="10" name="Picture 9" descr="slide11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6766560" cy="483325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28800"/>
            <a:ext cx="3657600" cy="114300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057400"/>
            <a:ext cx="30175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450592"/>
            <a:ext cx="2971800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20" b="0">
                <a:solidFill>
                  <a:srgbClr val="A4B2C6"/>
                </a:solidFill>
                <a:latin typeface="Aptos"/>
              </a:rPr>
              <a:t>The box plot helps compare the center of each group.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246120"/>
            <a:ext cx="3657600" cy="114300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474720"/>
            <a:ext cx="30175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9B7AB"/>
                </a:solidFill>
                <a:latin typeface="Aptos"/>
              </a:rPr>
              <a:t>Spread &amp;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867912"/>
            <a:ext cx="2971800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20" b="0">
                <a:solidFill>
                  <a:srgbClr val="A4B2C6"/>
                </a:solidFill>
                <a:latin typeface="Aptos"/>
              </a:rPr>
              <a:t>Distribution gives more context than a single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92040"/>
            <a:ext cx="3657600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FB848"/>
                </a:solidFill>
                <a:latin typeface="Aptos"/>
              </a:rPr>
              <a:t>Interpretation stays descriptive: the chart shows distribution, not causation.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11 •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What the analysis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257800" cy="109728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5087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14148"/>
                </a:solidFill>
                <a:latin typeface="Aptos"/>
              </a:rPr>
              <a:t>51.3%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1883664"/>
            <a:ext cx="320040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80" b="0">
                <a:solidFill>
                  <a:srgbClr val="A4B2C6"/>
                </a:solidFill>
                <a:latin typeface="Aptos"/>
              </a:rPr>
              <a:t>Heart disease is present in about half of the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257800" cy="109728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15087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9B7AB"/>
                </a:solidFill>
                <a:latin typeface="Aptos"/>
              </a:rPr>
              <a:t>Chest pain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883664"/>
            <a:ext cx="320040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80" b="0">
                <a:solidFill>
                  <a:srgbClr val="A4B2C6"/>
                </a:solidFill>
                <a:latin typeface="Aptos"/>
              </a:rPr>
              <a:t>Prevalence differs substantially across chest-pain categories.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109728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15087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B848"/>
                </a:solidFill>
                <a:latin typeface="Aptos"/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39" y="3273552"/>
            <a:ext cx="320040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80" b="0">
                <a:solidFill>
                  <a:srgbClr val="A4B2C6"/>
                </a:solidFill>
                <a:latin typeface="Aptos"/>
              </a:rPr>
              <a:t>Age-group patterns are not purely linear.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109728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10128"/>
            <a:ext cx="15087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676E"/>
                </a:solidFill>
                <a:latin typeface="Aptos"/>
              </a:rPr>
              <a:t>Oldpeak +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273552"/>
            <a:ext cx="320040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80" b="0">
                <a:solidFill>
                  <a:srgbClr val="A4B2C6"/>
                </a:solidFill>
                <a:latin typeface="Aptos"/>
              </a:rPr>
              <a:t>These show notable numeric relationships with the target.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17136"/>
            <a:ext cx="5257800" cy="109728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00016"/>
            <a:ext cx="15087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9B7AB"/>
                </a:solidFill>
                <a:latin typeface="Aptos"/>
              </a:rPr>
              <a:t>Visual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39" y="4663440"/>
            <a:ext cx="320040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80" b="0">
                <a:solidFill>
                  <a:srgbClr val="A4B2C6"/>
                </a:solidFill>
                <a:latin typeface="Aptos"/>
              </a:rPr>
              <a:t>Multiple views reveal patterns hidden in raw rows.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17136"/>
            <a:ext cx="5257800" cy="109728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700016"/>
            <a:ext cx="15087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B848"/>
                </a:solidFill>
                <a:latin typeface="Aptos"/>
              </a:rPr>
              <a:t>Caution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663440"/>
            <a:ext cx="320040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80" b="0">
                <a:solidFill>
                  <a:srgbClr val="A4B2C6"/>
                </a:solidFill>
                <a:latin typeface="Aptos"/>
              </a:rPr>
              <a:t>These are associations in this dataset—not medical causation.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12 •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From Data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The project turns raw records into understandable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3401568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11680"/>
            <a:ext cx="411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93392"/>
            <a:ext cx="224028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Patient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50592"/>
            <a:ext cx="23317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Start with patient-level medical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828800"/>
            <a:ext cx="3401568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411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9B7A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993392"/>
            <a:ext cx="224028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450592"/>
            <a:ext cx="23317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Check and prepare the dataset.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1828800"/>
            <a:ext cx="3401568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011680"/>
            <a:ext cx="411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993392"/>
            <a:ext cx="224028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450592"/>
            <a:ext cx="23317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Use Pivot Tables and structured comparisons.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94760"/>
            <a:ext cx="3401568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977640"/>
            <a:ext cx="411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9B7AB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9352"/>
            <a:ext cx="224028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Visual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16552"/>
            <a:ext cx="23317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Turn patterns into charts and dashboard 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3794760"/>
            <a:ext cx="3401568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977640"/>
            <a:ext cx="411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3959352"/>
            <a:ext cx="224028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416552"/>
            <a:ext cx="23317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Compare symptoms, age groups and clinical measures.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3794760"/>
            <a:ext cx="3401568" cy="150876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3977640"/>
            <a:ext cx="411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9B7AB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3959352"/>
            <a:ext cx="224028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Decision-ready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4416552"/>
            <a:ext cx="23317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4B2C6"/>
                </a:solidFill>
                <a:latin typeface="Aptos"/>
              </a:rPr>
              <a:t>Communicate the main findings clearly.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9B7AB"/>
                </a:solidFill>
                <a:latin typeface="Aptos"/>
              </a:rPr>
              <a:t>13 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06424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0881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B2C6"/>
                </a:solidFill>
                <a:latin typeface="Aptos"/>
              </a:rPr>
              <a:t>A clear analytical story—with room for deeper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4B2C6"/>
                </a:solidFill>
                <a:latin typeface="Apto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3716"/>
          </a:xfrm>
          <a:prstGeom prst="rect">
            <a:avLst/>
          </a:prstGeom>
          <a:solidFill>
            <a:srgbClr val="3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5029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A4B2C6"/>
                </a:solidFill>
                <a:latin typeface="Aptos"/>
              </a:rPr>
              <a:t>GROUP 4  •  HEART DISEASE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6492240" cy="3429000"/>
          </a:xfrm>
          <a:prstGeom prst="roundRect">
            <a:avLst/>
          </a:prstGeom>
          <a:solidFill>
            <a:srgbClr val="18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What we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274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9B7A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33472"/>
            <a:ext cx="544068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Several features show meaningful differences or associations with heart disease.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64991"/>
            <a:ext cx="274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9B7A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46703"/>
            <a:ext cx="544068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Multiple visualizations provide a more complete view than raw rows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274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9B7A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59936"/>
            <a:ext cx="544068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4B2C6"/>
                </a:solidFill>
                <a:latin typeface="Aptos"/>
              </a:rPr>
              <a:t>The dashboard and analysis communicate the main patterns clearly.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783080"/>
            <a:ext cx="3977639" cy="3429000"/>
          </a:xfrm>
          <a:prstGeom prst="round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1031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FB848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697480"/>
            <a:ext cx="3154680" cy="11430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Further statistical or machine-learning analysis would be needed for clinical prediction.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069080"/>
            <a:ext cx="3063240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4B2C6"/>
                </a:solidFill>
                <a:latin typeface="Aptos"/>
              </a:rPr>
              <a:t>The current analysis is descriptive and association-based.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78992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